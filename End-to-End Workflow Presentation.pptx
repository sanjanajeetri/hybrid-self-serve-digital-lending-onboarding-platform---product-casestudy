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6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B589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 Loan Onboarding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4572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 – Assessment Submission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Jeetri Sanjana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5892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Goals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1856232"/>
            <a:ext cx="347472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21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2724912"/>
            <a:ext cx="347472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900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Solution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3593592"/>
            <a:ext cx="347472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Customer Journey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252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Integrations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349240" y="1856232"/>
            <a:ext cx="347472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2121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&amp; Success Metrics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49240" y="2724912"/>
            <a:ext cx="347472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9900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Future Enhancements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6576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banks &amp; NBFCs digitize and simplify loan onboarding through a self-serve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182880" cy="18288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Reduce onboarding turnaround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017520"/>
            <a:ext cx="182880" cy="18288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971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Reduce manual verification effort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182880" cy="18288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474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Improve customer experience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182880" cy="18288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977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Increase operational scalability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892A"/>
                </a:solidFill>
              </a:rPr>
              <a:t>Customer Challenges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121408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93208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Long waiting times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505456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93208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Multiple branch visits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889504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93208" y="2852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No real-time status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273552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93208" y="32369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Repeated document submissions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675888"/>
            <a:ext cx="3566160" cy="0"/>
          </a:xfrm>
          <a:prstGeom prst="line">
            <a:avLst/>
          </a:prstGeom>
          <a:noFill/>
          <a:ln w="635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45"/>
                </a:solidFill>
              </a:rPr>
              <a:t>Bank Challenges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4069080"/>
            <a:ext cx="109728" cy="109728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56632" y="4041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040"/>
                </a:solidFill>
              </a:rPr>
              <a:t>High manual workload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4233672"/>
            <a:ext cx="109728" cy="109728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56632" y="42062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040"/>
                </a:solidFill>
              </a:rPr>
              <a:t>Slow verification process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398264"/>
            <a:ext cx="109728" cy="109728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56632" y="4370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040"/>
                </a:solidFill>
              </a:rPr>
              <a:t>Data entry errors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4562856"/>
            <a:ext cx="109728" cy="109728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56632" y="45354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040"/>
                </a:solidFill>
              </a:rPr>
              <a:t>Operational inefficiency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 &amp; 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173736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3840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 Applicants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Personal loan applicants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Salaried employees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Standard KYC documents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651760" cy="173736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Bank Employees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691640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Verification reviewers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084832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Approval / escalation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478024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Audit trail 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651760" cy="173736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3840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Team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1691640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Loan account creation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084832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Disbursement processing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478024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Repayment scheduling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8595360" cy="502920"/>
          </a:xfrm>
          <a:prstGeom prst="rect">
            <a:avLst/>
          </a:prstGeom>
          <a:solidFill>
            <a:srgbClr val="C4B49A">
              <a:alpha val="40000"/>
            </a:srgbClr>
          </a:solidFill>
          <a:ln w="12700">
            <a:solidFill>
              <a:srgbClr val="B5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0175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5B45"/>
                </a:solidFill>
              </a:rPr>
              <a:t>Hybrid Model: Simple Loans → Self-Serve   |   Complex Loans → Assisted Onboarding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64008" cy="1280160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45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SaaS-based onboarding platform integrating with banking and third-party systems to automate: customer onboarding, eKYC verification, PAN validation, credit score checks, eSign workflows, and real-time application tracking — reducing manual intervention and accelerating loan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2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Onboarding Flow</a:t>
            </a:r>
            <a:endParaRPr lang="en-US" sz="2600" dirty="0"/>
          </a:p>
        </p:txBody>
      </p:sp>
      <p:pic>
        <p:nvPicPr>
          <p:cNvPr id="4" name="Image 0" descr="/home/claude/Sket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089" y="804295"/>
            <a:ext cx="8712810" cy="40420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B5892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8F0"/>
                </a:solidFill>
              </a:rPr>
              <a:t>5-Phase Flow: Customer Initiation → Automated Verification → Employee Review → Customer eSign → Loan Disbursement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103327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58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Signup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OTP / Email verification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988820"/>
            <a:ext cx="320040" cy="0"/>
          </a:xfrm>
          <a:prstGeom prst="line">
            <a:avLst/>
          </a:prstGeom>
          <a:noFill/>
          <a:ln w="25400">
            <a:solidFill>
              <a:srgbClr val="B5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98755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loan type, upload Aadhaar, PAN &amp; income proof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988820"/>
            <a:ext cx="320040" cy="0"/>
          </a:xfrm>
          <a:prstGeom prst="line">
            <a:avLst/>
          </a:prstGeom>
          <a:noFill/>
          <a:ln w="25400">
            <a:solidFill>
              <a:srgbClr val="B5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69480" y="98755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Auto Verification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CIBIL score &amp; OCR document checks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25880" y="286207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2588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Employee 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employee reviews, approves, rejects or escalates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3863340"/>
            <a:ext cx="320040" cy="0"/>
          </a:xfrm>
          <a:prstGeom prst="line">
            <a:avLst/>
          </a:prstGeom>
          <a:noFill/>
          <a:ln w="25400">
            <a:solidFill>
              <a:srgbClr val="B5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97680" y="286207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756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eSign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375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sanction letter &amp; completes Aadhaar 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3863340"/>
            <a:ext cx="320040" cy="0"/>
          </a:xfrm>
          <a:prstGeom prst="line">
            <a:avLst/>
          </a:prstGeom>
          <a:noFill/>
          <a:ln w="25400">
            <a:solidFill>
              <a:srgbClr val="B58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2651760" cy="160020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69480" y="2862072"/>
            <a:ext cx="548640" cy="548640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6948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45"/>
                </a:solidFill>
              </a:rPr>
              <a:t>Disbursement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 created, repayment schedule generated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Integrations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651760" cy="301752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651760" cy="3840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664208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OTP 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066544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Document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2468880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Real-time status tracker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2871216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eSign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3273552"/>
            <a:ext cx="128016" cy="128016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2369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170432"/>
            <a:ext cx="2651760" cy="2615184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170432"/>
            <a:ext cx="2651760" cy="384048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Employee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1664208"/>
            <a:ext cx="128016" cy="128016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9300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Verification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2066544"/>
            <a:ext cx="128016" cy="128016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93008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Eligibility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2468880"/>
            <a:ext cx="128016" cy="128016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93008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Approval workflow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2871216"/>
            <a:ext cx="128016" cy="128016"/>
          </a:xfrm>
          <a:prstGeom prst="ellipse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9300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Audit logs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1170432"/>
            <a:ext cx="2651760" cy="2212848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1170432"/>
            <a:ext cx="2651760" cy="384048"/>
          </a:xfrm>
          <a:prstGeom prst="rect">
            <a:avLst/>
          </a:prstGeom>
          <a:solidFill>
            <a:srgbClr val="7A6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Features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1664208"/>
            <a:ext cx="128016" cy="128016"/>
          </a:xfrm>
          <a:prstGeom prst="ellipse">
            <a:avLst/>
          </a:prstGeom>
          <a:solidFill>
            <a:srgbClr val="7A6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64808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Loan account creation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81928" y="2066544"/>
            <a:ext cx="128016" cy="128016"/>
          </a:xfrm>
          <a:prstGeom prst="ellipse">
            <a:avLst/>
          </a:prstGeom>
          <a:solidFill>
            <a:srgbClr val="7A6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64808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Disbursement processing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81928" y="2468880"/>
            <a:ext cx="128016" cy="128016"/>
          </a:xfrm>
          <a:prstGeom prst="ellipse">
            <a:avLst/>
          </a:prstGeom>
          <a:solidFill>
            <a:srgbClr val="7A6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64808" y="2432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Repayment scheduling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3703320"/>
            <a:ext cx="8686800" cy="329184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" y="37033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Integrations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8600" y="4032504"/>
            <a:ext cx="1240971" cy="768096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Aadhaar eKYC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Identity verification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69571" y="4032504"/>
            <a:ext cx="1240971" cy="768096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515291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PAN API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15291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PAN validation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10543" y="4032504"/>
            <a:ext cx="1240971" cy="768096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56263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CIBIL API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56263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Credit score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51514" y="4032504"/>
            <a:ext cx="1240971" cy="768096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97234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OCR Engine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997234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Document extraction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92486" y="4032504"/>
            <a:ext cx="1240971" cy="768096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238206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eSign API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8206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Digital signature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33457" y="4032504"/>
            <a:ext cx="1240971" cy="768096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79177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SMS/Email API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79177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74429" y="4032504"/>
            <a:ext cx="1240971" cy="768096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20149" y="4087368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5B45"/>
                </a:solidFill>
              </a:rPr>
              <a:t>Core Banking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20149" y="4379976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7B65"/>
                </a:solidFill>
              </a:rPr>
              <a:t>Loan account creation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Scope &amp; Success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74904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3840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In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636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Customer signup/login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12264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Document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Aadhaar &amp; PAN verification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08376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980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CIBIL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Employee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904488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3877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eSign 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352544"/>
            <a:ext cx="146304" cy="146304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Application tracking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170432"/>
            <a:ext cx="2377440" cy="224028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1170432"/>
            <a:ext cx="2377440" cy="384048"/>
          </a:xfrm>
          <a:prstGeom prst="rect">
            <a:avLst/>
          </a:prstGeom>
          <a:solidFill>
            <a:srgbClr val="9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1170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Out of Scope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664208"/>
            <a:ext cx="146304" cy="146304"/>
          </a:xfrm>
          <a:prstGeom prst="ellipse">
            <a:avLst/>
          </a:prstGeom>
          <a:solidFill>
            <a:srgbClr val="9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84448" y="16367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Corporate loan workflows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2103120"/>
            <a:ext cx="146304" cy="146304"/>
          </a:xfrm>
          <a:prstGeom prst="ellipse">
            <a:avLst/>
          </a:prstGeom>
          <a:solidFill>
            <a:srgbClr val="9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84448" y="2075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AI fraud detection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2542032"/>
            <a:ext cx="146304" cy="146304"/>
          </a:xfrm>
          <a:prstGeom prst="ellipse">
            <a:avLst/>
          </a:prstGeom>
          <a:solidFill>
            <a:srgbClr val="9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84448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Multi-country compliance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2980944"/>
            <a:ext cx="146304" cy="146304"/>
          </a:xfrm>
          <a:prstGeom prst="ellipse">
            <a:avLst/>
          </a:prstGeom>
          <a:solidFill>
            <a:srgbClr val="9C7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84448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Advanced analytics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1170432"/>
            <a:ext cx="3063240" cy="384048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06440" y="1170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Success Metrics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0" y="1691640"/>
            <a:ext cx="1440180" cy="118872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52160" y="1801368"/>
            <a:ext cx="1440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8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70%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852160" y="2404872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040"/>
                </a:solidFill>
              </a:rPr>
              <a:t>Onboarding 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83780" y="1691640"/>
            <a:ext cx="1440180" cy="118872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83780" y="1801368"/>
            <a:ext cx="1440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8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60%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383780" y="2404872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040"/>
                </a:solidFill>
              </a:rPr>
              <a:t>Manual Effort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3063240"/>
            <a:ext cx="1440180" cy="118872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0" y="3172968"/>
            <a:ext cx="1440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8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40%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5852160" y="3776472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040"/>
                </a:solidFill>
              </a:rPr>
              <a:t>Drop-offs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83780" y="3063240"/>
            <a:ext cx="1440180" cy="1188720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83780" y="3172968"/>
            <a:ext cx="14401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8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50%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383780" y="3776472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040"/>
                </a:solidFill>
              </a:rPr>
              <a:t>Completion Rate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434840" cy="365760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Risks &amp; Mitigation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011680" cy="320040"/>
          </a:xfrm>
          <a:prstGeom prst="rect">
            <a:avLst/>
          </a:prstGeom>
          <a:solidFill>
            <a:srgbClr val="C4B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0" y="1536192"/>
            <a:ext cx="2423160" cy="320040"/>
          </a:xfrm>
          <a:prstGeom prst="rect">
            <a:avLst/>
          </a:prstGeom>
          <a:solidFill>
            <a:srgbClr val="C4B4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536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Mitigation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2011680" cy="4572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0" y="1856232"/>
            <a:ext cx="2423160" cy="4572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874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B28"/>
                </a:solidFill>
              </a:rPr>
              <a:t>Fraudulent documents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8745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Automated validation + manual escalation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2011680" cy="457200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0" y="2359152"/>
            <a:ext cx="2423160" cy="457200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377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B28"/>
                </a:solidFill>
              </a:rPr>
              <a:t>API failures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3774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Retry and fallback workflows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62072"/>
            <a:ext cx="2011680" cy="4572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0" y="2862072"/>
            <a:ext cx="2423160" cy="457200"/>
          </a:xfrm>
          <a:prstGeom prst="rect">
            <a:avLst/>
          </a:prstGeom>
          <a:solidFill>
            <a:srgbClr val="FD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B28"/>
                </a:solidFill>
              </a:rPr>
              <a:t>User confusion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803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Guided onboarding 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2011680" cy="457200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0" y="3364992"/>
            <a:ext cx="2423160" cy="457200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3832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B28"/>
                </a:solidFill>
              </a:rPr>
              <a:t>Compliance concerns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383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040"/>
                </a:solidFill>
              </a:rPr>
              <a:t>Audit logs and consent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1170432"/>
            <a:ext cx="3840480" cy="365760"/>
          </a:xfrm>
          <a:prstGeom prst="rect">
            <a:avLst/>
          </a:prstGeom>
          <a:solidFill>
            <a:srgbClr val="6B5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1170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1600200"/>
            <a:ext cx="3840480" cy="530352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0" y="1600200"/>
            <a:ext cx="54864" cy="5303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16002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AI-based eligibility recommendations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221992"/>
            <a:ext cx="3840480" cy="530352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0" y="2221992"/>
            <a:ext cx="54864" cy="5303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22219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Video KYC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2843784"/>
            <a:ext cx="3840480" cy="530352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0" y="2843784"/>
            <a:ext cx="54864" cy="5303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66360" y="28437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Chatbot onboarding assistant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465576"/>
            <a:ext cx="3840480" cy="530352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29200" y="3465576"/>
            <a:ext cx="54864" cy="5303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346557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Fraud detection engine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4087368"/>
            <a:ext cx="3840480" cy="530352"/>
          </a:xfrm>
          <a:prstGeom prst="rect">
            <a:avLst/>
          </a:prstGeom>
          <a:solidFill>
            <a:srgbClr val="FDF8F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29200" y="4087368"/>
            <a:ext cx="54864" cy="5303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66360" y="40873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040"/>
                </a:solidFill>
              </a:rPr>
              <a:t>Multi-language support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B589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572000" cy="41148"/>
          </a:xfrm>
          <a:prstGeom prst="rect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Self-Serve Loan Onboarding SaaS Platform addresses the core challenges in today's manual, time-consuming loan processes. By automating verification, document handling, and approval workflows, the platform delivers: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715768"/>
            <a:ext cx="201168" cy="201168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6791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Faster onboarding — minutes, not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72968"/>
            <a:ext cx="201168" cy="201168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1363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Reduced manual workload for banks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630168"/>
            <a:ext cx="201168" cy="201168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593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Better customer experience and transparency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087368"/>
            <a:ext cx="201168" cy="201168"/>
          </a:xfrm>
          <a:prstGeom prst="ellipse">
            <a:avLst/>
          </a:prstGeom>
          <a:solidFill>
            <a:srgbClr val="B5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9959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Scalable, compliant, and integration-ready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36973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scalable, digitally-driven onboarding solution for financial institutions.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B5892A">
              <a:alpha val="5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546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sanjana jeetri</cp:lastModifiedBy>
  <cp:revision>3</cp:revision>
  <dcterms:created xsi:type="dcterms:W3CDTF">2026-05-12T05:45:51Z</dcterms:created>
  <dcterms:modified xsi:type="dcterms:W3CDTF">2026-09-25T06:01:14Z</dcterms:modified>
</cp:coreProperties>
</file>